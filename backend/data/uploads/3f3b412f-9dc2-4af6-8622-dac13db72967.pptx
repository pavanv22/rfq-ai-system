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MEDIAPU LSE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10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AGENCY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7315200" cy="0"/>
          </a:xfrm>
          <a:prstGeom prst="line">
            <a:avLst/>
          </a:prstGeom>
          <a:noFill/>
          <a:ln w="19050">
            <a:solidFill>
              <a:srgbClr val="F47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5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RESPONSE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RFQ-MKT-KIDS-GL-2026-001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Launch – New Kids Health Drink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Sunita Krishnan, Director – New Business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April 9, 2026  |  Version: Final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Snapshot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0D1B4B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MediaPulse Digital Pvt. Ltd. | RFQ-MKT-KIDS-GL-2026-001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920240" cy="34747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887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7920"/>
                </a:solidFill>
              </a:rPr>
              <a:t>18</a:t>
            </a:r>
            <a:endParaRPr lang="en-US" sz="4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Years</a:t>
            </a:r>
            <a:endParaRPr lang="en-US" sz="4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in Business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7920"/>
                </a:solidFill>
              </a:rPr>
              <a:t>250+</a:t>
            </a:r>
            <a:endParaRPr lang="en-US" sz="4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Team</a:t>
            </a:r>
            <a:endParaRPr lang="en-US" sz="4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Members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74320" y="32918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7920"/>
                </a:solidFill>
              </a:rPr>
              <a:t>35+</a:t>
            </a:r>
            <a:endParaRPr lang="en-US" sz="4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Active</a:t>
            </a:r>
            <a:endParaRPr lang="en-US" sz="4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Clients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377440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34840" y="1143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Delhi, India (also: Mumbai, Bengaluru, Dubai)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77440" y="1472184"/>
            <a:ext cx="65379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4904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34840" y="14904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Digital-first integrated marketing, Kids &amp; Youth segment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77440" y="1819656"/>
            <a:ext cx="65379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18379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(FY25):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34840" y="18379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95 Crore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77440" y="2167128"/>
            <a:ext cx="65379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21854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Clients: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34840" y="21854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Britannia, Dabur, Reckitt Benckiser, Unilever India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77440" y="2514600"/>
            <a:ext cx="65379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25328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34840" y="25328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Agency of the Year 2024 – Campaign India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77440" y="2862072"/>
            <a:ext cx="65379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34840" y="2880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 Member | Child Safety Protocol ISO-certified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77440" y="3209544"/>
            <a:ext cx="65379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Coverage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 to All 8 RFQ Line Items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0D1B4B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MediaPulse Digital Pvt. Ltd. | RFQ-MKT-KIDS-GL-2026-001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0624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914400" cy="7772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4300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34440" y="12161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Creative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325880"/>
            <a:ext cx="91440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325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420624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011680"/>
            <a:ext cx="914400" cy="7772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01168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34440" y="20848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TVC Development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2194560"/>
            <a:ext cx="91440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194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420624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80360"/>
            <a:ext cx="914400" cy="7772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88036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34440" y="29535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TVC Production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3063240"/>
            <a:ext cx="914400" cy="32004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3063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749040"/>
            <a:ext cx="420624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749040"/>
            <a:ext cx="914400" cy="7772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7490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34440" y="3822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Organic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0" y="3931920"/>
            <a:ext cx="91440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3931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46320" y="1143000"/>
            <a:ext cx="420624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1143000"/>
            <a:ext cx="914400" cy="7772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114300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06440" y="12161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Planning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46720" y="1325880"/>
            <a:ext cx="91440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8046720" y="1325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46320" y="2011680"/>
            <a:ext cx="420624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2011680"/>
            <a:ext cx="914400" cy="7772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201168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806440" y="20848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Buying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046720" y="2194560"/>
            <a:ext cx="91440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1" name="Text 39"/>
          <p:cNvSpPr/>
          <p:nvPr/>
        </p:nvSpPr>
        <p:spPr>
          <a:xfrm>
            <a:off x="8046720" y="2194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46320" y="2880360"/>
            <a:ext cx="420624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2880360"/>
            <a:ext cx="914400" cy="7772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288036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7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806440" y="29535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Review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046720" y="3063240"/>
            <a:ext cx="91440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7" name="Text 45"/>
          <p:cNvSpPr/>
          <p:nvPr/>
        </p:nvSpPr>
        <p:spPr>
          <a:xfrm>
            <a:off x="8046720" y="3063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846320" y="3749040"/>
            <a:ext cx="420624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46320" y="3749040"/>
            <a:ext cx="914400" cy="7772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50" name="Text 48"/>
          <p:cNvSpPr/>
          <p:nvPr/>
        </p:nvSpPr>
        <p:spPr>
          <a:xfrm>
            <a:off x="4846320" y="37490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8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806440" y="3822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Mgmt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046720" y="3931920"/>
            <a:ext cx="91440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3" name="Text 51"/>
          <p:cNvSpPr/>
          <p:nvPr/>
        </p:nvSpPr>
        <p:spPr>
          <a:xfrm>
            <a:off x="8046720" y="3931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74320" y="46177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LOT 3 (TVC Production): We are quoting for production management and post-production only. Physical shoot execution is proposed via our preferred production house partner (Cinecraft Studios). See slide 7 for details.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Campaign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Overview [Source: Agency Strategy Deck - Image Extract]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0D1B4B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MediaPulse Digital Pvt. Ltd. | RFQ-MKT-KIDS-GL-2026-001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3474720"/>
          </a:xfrm>
          <a:prstGeom prst="rect">
            <a:avLst/>
          </a:prstGeom>
          <a:solidFill>
            <a:srgbClr val="F0F4FF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CAMPAIGN ARCHITECTURE DIAGRAM 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011680" cy="274320"/>
          </a:xfrm>
          <a:prstGeom prst="rect">
            <a:avLst/>
          </a:prstGeom>
          <a:solidFill>
            <a:srgbClr val="D6E4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BRAND STRATEGY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₹38,00,000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TVC Development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14600" y="1600200"/>
            <a:ext cx="457200" cy="0"/>
          </a:xfrm>
          <a:prstGeom prst="line">
            <a:avLst/>
          </a:prstGeom>
          <a:noFill/>
          <a:ln w="25400">
            <a:solidFill>
              <a:srgbClr val="F479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7920"/>
                </a:solidFill>
              </a:rPr>
              <a:t>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08960" y="1463040"/>
            <a:ext cx="2011680" cy="274320"/>
          </a:xfrm>
          <a:prstGeom prst="rect">
            <a:avLst/>
          </a:prstGeom>
          <a:solidFill>
            <a:srgbClr val="D6E4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CONTENT PRODUCTION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08960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₹42,00,000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2011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TVC Production (via partner)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166360" y="1600200"/>
            <a:ext cx="457200" cy="0"/>
          </a:xfrm>
          <a:prstGeom prst="line">
            <a:avLst/>
          </a:prstGeom>
          <a:noFill/>
          <a:ln w="25400">
            <a:solidFill>
              <a:srgbClr val="F479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7920"/>
                </a:solidFill>
              </a:rPr>
              <a:t>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60720" y="1463040"/>
            <a:ext cx="2011680" cy="274320"/>
          </a:xfrm>
          <a:prstGeom prst="rect">
            <a:avLst/>
          </a:prstGeom>
          <a:solidFill>
            <a:srgbClr val="D6E4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DIGITAL ACTIVATION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60720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₹68,00,000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2011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+ Paid + Compliance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423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 SUMMARY (from internal planning tool)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7432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Master TVC (60s) + 5 cutdowns | Delivery: Week 17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0175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288 social content assets (year 1) | Delivery: Monthly rolling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2918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8-market compliance sign-off | Delivery: Week 16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5661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Paid media: USD 15,00,000 recommended spend (client-funded, not included above)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55371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Figures shown above extracted from agency planning dashboard. Refer to Slide 9 for full commercial table.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Safety &amp; Compliance Framework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Non-Negotiable Commitment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0D1B4B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MediaPulse Digital Pvt. Ltd. | RFQ-MKT-KIDS-GL-2026-001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023360" cy="1554480"/>
          </a:xfrm>
          <a:prstGeom prst="rect">
            <a:avLst/>
          </a:prstGeom>
          <a:solidFill>
            <a:srgbClr val="0D1B4B"/>
          </a:solidFill>
          <a:ln w="19050">
            <a:solidFill>
              <a:srgbClr val="F47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Talent Safety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chaperones on set at all times. Max 4-hour working day for child actors. Licensed talent agencies only.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023360" cy="1554480"/>
          </a:xfrm>
          <a:prstGeom prst="rect">
            <a:avLst/>
          </a:prstGeom>
          <a:solidFill>
            <a:srgbClr val="0D1B4B"/>
          </a:solidFill>
          <a:ln w="19050">
            <a:solidFill>
              <a:srgbClr val="F479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2344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7784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Compliance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1600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scripts reviewed pre-production against ASCI, FTC, ASA guidelines. No fear-based messaging. No unsupported health claims.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023360" cy="1554480"/>
          </a:xfrm>
          <a:prstGeom prst="rect">
            <a:avLst/>
          </a:prstGeom>
          <a:solidFill>
            <a:srgbClr val="0D1B4B"/>
          </a:solidFill>
          <a:ln w="19050">
            <a:solidFill>
              <a:srgbClr val="F479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71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18872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Safety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3375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COPPA-compliant targeting. No behavioral tracking of under-13s. Safe audience environments only.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1554480"/>
          </a:xfrm>
          <a:prstGeom prst="rect">
            <a:avLst/>
          </a:prstGeom>
          <a:solidFill>
            <a:srgbClr val="0D1B4B"/>
          </a:solidFill>
          <a:ln w="19050">
            <a:solidFill>
              <a:srgbClr val="F479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971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57784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Review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33375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legal reviewer for nutrition/health claims. R&amp;D documentation required for all claims.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Campaign Experience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&amp; Youth Category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0D1B4B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MediaPulse Digital Pvt. Ltd. | RFQ-MKT-KIDS-GL-2026-001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GrowFit Junior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Health Brand | 2024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0" y="1371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+41% brand awareness | 8 markets | Full TVC + Digital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8595360" cy="1097280"/>
          </a:xfrm>
          <a:prstGeom prst="rect">
            <a:avLst/>
          </a:prstGeom>
          <a:solidFill>
            <a:srgbClr val="E8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Milo Champions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Nestle (Subcontract) | 2023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Digital-only activation | APAC | 120M impressions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859536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Amul Kool Kids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GCMMF | 2022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0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+ OOH | India | 3 EFFIE nominations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46634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available on request. Detailed case study decks can be shared under NDA.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3: TVC Production – Our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Model with Cinecraft Studios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0D1B4B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MediaPulse Digital Pvt. Ltd. | RFQ-MKT-KIDS-GL-2026-001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548640"/>
          </a:xfrm>
          <a:prstGeom prst="rect">
            <a:avLst/>
          </a:prstGeom>
          <a:solidFill>
            <a:srgbClr val="FFF3CD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IMPORTANT NOTE ON LOT 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 managing TVC Production (Lot 3) through our preferred production partner, Cinecraft Studios Mumbai, rather than in-house. MediaPulse will serve as the production agency of record, managing creative oversight, compliance, and delivery. This approach has been used successfully for 3 previous kids campaigns.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514600"/>
            <a:ext cx="8595360" cy="1828800"/>
          </a:xfrm>
          <a:prstGeom prst="rect">
            <a:avLst/>
          </a:prstGeom>
          <a:solidFill>
            <a:srgbClr val="F0F4FF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560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PRODUCTION COST BREAKDOWN – CINECRAFT STUDIOS ESTIMATE 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Management Fee (MediaPulse)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0" y="2880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₹8,00,000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127248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3639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Cinecraft Studios – Shoot + Post (3-day, Mumbai)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0" y="3136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₹32,00,000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9242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Talent &amp; Compliance Mgmt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0" y="3392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₹8,00,000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63931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484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Cutdowns &amp; Delivery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0" y="36484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₹4,00,000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895344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0448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LOT 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58000" y="39044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₹52,00,000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Project Team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to Your Brand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0D1B4B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MediaPulse Digital Pvt. Ltd. | RFQ-MKT-KIDS-GL-2026-001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651760" cy="155448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1280160"/>
            <a:ext cx="731520" cy="731520"/>
          </a:xfrm>
          <a:prstGeom prst="ellipse">
            <a:avLst/>
          </a:prstGeom>
          <a:solidFill>
            <a:srgbClr val="F47920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Sunita Krishnan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Director | 15 yrs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651760" cy="1554480"/>
          </a:xfrm>
          <a:prstGeom prst="rect">
            <a:avLst/>
          </a:prstGeom>
          <a:solidFill>
            <a:srgbClr val="1A3A7A"/>
          </a:solidFill>
          <a:ln/>
        </p:spPr>
      </p:sp>
      <p:sp>
        <p:nvSpPr>
          <p:cNvPr id="12" name="Shape 10"/>
          <p:cNvSpPr/>
          <p:nvPr/>
        </p:nvSpPr>
        <p:spPr>
          <a:xfrm>
            <a:off x="4160520" y="1280160"/>
            <a:ext cx="731520" cy="731520"/>
          </a:xfrm>
          <a:prstGeom prst="ellipse">
            <a:avLst/>
          </a:prstGeom>
          <a:solidFill>
            <a:srgbClr val="F47920"/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0040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Desai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2423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Director | 12 yrs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651760" cy="155448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6600" y="1280160"/>
            <a:ext cx="731520" cy="731520"/>
          </a:xfrm>
          <a:prstGeom prst="ellipse">
            <a:avLst/>
          </a:prstGeom>
          <a:solidFill>
            <a:srgbClr val="F47920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2648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Shaikh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2423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Lead | 8 yrs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2651760" cy="1554480"/>
          </a:xfrm>
          <a:prstGeom prst="rect">
            <a:avLst/>
          </a:prstGeom>
          <a:solidFill>
            <a:srgbClr val="1A3A7A"/>
          </a:solidFill>
          <a:ln/>
        </p:spPr>
      </p:sp>
      <p:sp>
        <p:nvSpPr>
          <p:cNvPr id="22" name="Shape 20"/>
          <p:cNvSpPr/>
          <p:nvPr/>
        </p:nvSpPr>
        <p:spPr>
          <a:xfrm>
            <a:off x="1234440" y="3108960"/>
            <a:ext cx="731520" cy="731520"/>
          </a:xfrm>
          <a:prstGeom prst="ellipse">
            <a:avLst/>
          </a:prstGeom>
          <a:solidFill>
            <a:srgbClr val="F47920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74320" y="3931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Verma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4251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Head | 10 yrs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0" y="3017520"/>
            <a:ext cx="2651760" cy="155448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7" name="Shape 25"/>
          <p:cNvSpPr/>
          <p:nvPr/>
        </p:nvSpPr>
        <p:spPr>
          <a:xfrm>
            <a:off x="4160520" y="3108960"/>
            <a:ext cx="731520" cy="731520"/>
          </a:xfrm>
          <a:prstGeom prst="ellipse">
            <a:avLst/>
          </a:prstGeom>
          <a:solidFill>
            <a:srgbClr val="F47920"/>
          </a:solidFill>
          <a:ln/>
        </p:spPr>
      </p:sp>
      <p:sp>
        <p:nvSpPr>
          <p:cNvPr id="28" name="Text 26"/>
          <p:cNvSpPr/>
          <p:nvPr/>
        </p:nvSpPr>
        <p:spPr>
          <a:xfrm>
            <a:off x="416052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200400" y="3931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Roy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0" y="4251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 | 7 yrs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26480" y="3017520"/>
            <a:ext cx="2651760" cy="1554480"/>
          </a:xfrm>
          <a:prstGeom prst="rect">
            <a:avLst/>
          </a:prstGeom>
          <a:solidFill>
            <a:srgbClr val="1A3A7A"/>
          </a:solidFill>
          <a:ln/>
        </p:spPr>
      </p:sp>
      <p:sp>
        <p:nvSpPr>
          <p:cNvPr id="32" name="Shape 30"/>
          <p:cNvSpPr/>
          <p:nvPr/>
        </p:nvSpPr>
        <p:spPr>
          <a:xfrm>
            <a:off x="7086600" y="3108960"/>
            <a:ext cx="731520" cy="731520"/>
          </a:xfrm>
          <a:prstGeom prst="ellipse">
            <a:avLst/>
          </a:prstGeom>
          <a:solidFill>
            <a:srgbClr val="F47920"/>
          </a:solidFill>
          <a:ln/>
        </p:spPr>
      </p:sp>
      <p:sp>
        <p:nvSpPr>
          <p:cNvPr id="33" name="Text 31"/>
          <p:cNvSpPr/>
          <p:nvPr/>
        </p:nvSpPr>
        <p:spPr>
          <a:xfrm>
            <a:off x="708660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126480" y="3931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Kartik Iyer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26480" y="4251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| 6 yrs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Structure for RFQ-MKT-KIDS-GL-2026-001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0D1B4B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MediaPulse Digital Pvt. Ltd. | RFQ-MKT-KIDS-GL-2026-001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below reflects our agency fees. Media spends are pass-through at actuals. All prices in INR exclusive of GST.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114800" cy="301752"/>
          </a:xfrm>
          <a:prstGeom prst="rect">
            <a:avLst/>
          </a:prstGeom>
          <a:solidFill>
            <a:srgbClr val="0D1B4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402336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1097280" cy="301752"/>
          </a:xfrm>
          <a:prstGeom prst="rect">
            <a:avLst/>
          </a:prstGeom>
          <a:solidFill>
            <a:srgbClr val="0D1B4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371600"/>
            <a:ext cx="10058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1371600"/>
            <a:ext cx="2560320" cy="301752"/>
          </a:xfrm>
          <a:prstGeom prst="rect">
            <a:avLst/>
          </a:prstGeom>
          <a:solidFill>
            <a:srgbClr val="0D1B4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371600"/>
            <a:ext cx="246888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Total (INR)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2468880" cy="301752"/>
          </a:xfrm>
          <a:prstGeom prst="rect">
            <a:avLst/>
          </a:prstGeom>
          <a:solidFill>
            <a:srgbClr val="0D1B4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1371600"/>
            <a:ext cx="23774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673352"/>
            <a:ext cx="4114800" cy="301752"/>
          </a:xfrm>
          <a:prstGeom prst="rect">
            <a:avLst/>
          </a:prstGeom>
          <a:solidFill>
            <a:srgbClr val="F5F7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673352"/>
            <a:ext cx="402336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 &amp; Creative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0" y="1673352"/>
            <a:ext cx="1097280" cy="301752"/>
          </a:xfrm>
          <a:prstGeom prst="rect">
            <a:avLst/>
          </a:prstGeom>
          <a:solidFill>
            <a:srgbClr val="F5F7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1673352"/>
            <a:ext cx="10058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&amp; 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0" y="1673352"/>
            <a:ext cx="2560320" cy="301752"/>
          </a:xfrm>
          <a:prstGeom prst="rect">
            <a:avLst/>
          </a:prstGeom>
          <a:solidFill>
            <a:srgbClr val="F5F7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1673352"/>
            <a:ext cx="246888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38,00,000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46720" y="1673352"/>
            <a:ext cx="2468880" cy="301752"/>
          </a:xfrm>
          <a:prstGeom prst="rect">
            <a:avLst/>
          </a:prstGeom>
          <a:solidFill>
            <a:srgbClr val="F5F7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1673352"/>
            <a:ext cx="23774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2 TVC concepts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1975104"/>
            <a:ext cx="41148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1975104"/>
            <a:ext cx="402336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TVC Production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89120" y="1975104"/>
            <a:ext cx="10972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1975104"/>
            <a:ext cx="10058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0" y="1975104"/>
            <a:ext cx="25603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1975104"/>
            <a:ext cx="246888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52,00,000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46720" y="1975104"/>
            <a:ext cx="24688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1975104"/>
            <a:ext cx="23774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Cinecraft partner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2276856"/>
            <a:ext cx="4114800" cy="301752"/>
          </a:xfrm>
          <a:prstGeom prst="rect">
            <a:avLst/>
          </a:prstGeom>
          <a:solidFill>
            <a:srgbClr val="F5F7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276856"/>
            <a:ext cx="402336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Organic Content (12 months)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89120" y="2276856"/>
            <a:ext cx="1097280" cy="301752"/>
          </a:xfrm>
          <a:prstGeom prst="rect">
            <a:avLst/>
          </a:prstGeom>
          <a:solidFill>
            <a:srgbClr val="F5F7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2276856"/>
            <a:ext cx="10058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0" y="2276856"/>
            <a:ext cx="2560320" cy="301752"/>
          </a:xfrm>
          <a:prstGeom prst="rect">
            <a:avLst/>
          </a:prstGeom>
          <a:solidFill>
            <a:srgbClr val="F5F7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2276856"/>
            <a:ext cx="246888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36,00,000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46720" y="2276856"/>
            <a:ext cx="2468880" cy="301752"/>
          </a:xfrm>
          <a:prstGeom prst="rect">
            <a:avLst/>
          </a:prstGeom>
          <a:solidFill>
            <a:srgbClr val="F5F7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92440" y="2276856"/>
            <a:ext cx="23774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 assets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2578608"/>
            <a:ext cx="41148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578608"/>
            <a:ext cx="402336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Planning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389120" y="2578608"/>
            <a:ext cx="10972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34840" y="2578608"/>
            <a:ext cx="10058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86400" y="2578608"/>
            <a:ext cx="25603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32120" y="2578608"/>
            <a:ext cx="246888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18,00,000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046720" y="2578608"/>
            <a:ext cx="24688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92440" y="2578608"/>
            <a:ext cx="23774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quarters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2880360"/>
            <a:ext cx="4114800" cy="301752"/>
          </a:xfrm>
          <a:prstGeom prst="rect">
            <a:avLst/>
          </a:prstGeom>
          <a:solidFill>
            <a:srgbClr val="F5F7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2880360"/>
            <a:ext cx="402336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Buying &amp; Optimisation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389120" y="2880360"/>
            <a:ext cx="1097280" cy="301752"/>
          </a:xfrm>
          <a:prstGeom prst="rect">
            <a:avLst/>
          </a:prstGeom>
          <a:solidFill>
            <a:srgbClr val="F5F7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34840" y="2880360"/>
            <a:ext cx="10058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486400" y="2880360"/>
            <a:ext cx="2560320" cy="301752"/>
          </a:xfrm>
          <a:prstGeom prst="rect">
            <a:avLst/>
          </a:prstGeom>
          <a:solidFill>
            <a:srgbClr val="F5F7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32120" y="2880360"/>
            <a:ext cx="246888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24,00,000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046720" y="2880360"/>
            <a:ext cx="2468880" cy="301752"/>
          </a:xfrm>
          <a:prstGeom prst="rect">
            <a:avLst/>
          </a:prstGeom>
          <a:solidFill>
            <a:srgbClr val="F5F7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92440" y="2880360"/>
            <a:ext cx="23774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mgmt only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3182112"/>
            <a:ext cx="41148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3182112"/>
            <a:ext cx="402336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Review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389120" y="3182112"/>
            <a:ext cx="10972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34840" y="3182112"/>
            <a:ext cx="10058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86400" y="3182112"/>
            <a:ext cx="256032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32120" y="3182112"/>
            <a:ext cx="246888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22,00,000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046720" y="3182112"/>
            <a:ext cx="24688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92440" y="3182112"/>
            <a:ext cx="23774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markets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74320" y="3483864"/>
            <a:ext cx="4114800" cy="301752"/>
          </a:xfrm>
          <a:prstGeom prst="rect">
            <a:avLst/>
          </a:prstGeom>
          <a:solidFill>
            <a:srgbClr val="F5F7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3483864"/>
            <a:ext cx="402336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Management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389120" y="3483864"/>
            <a:ext cx="1097280" cy="301752"/>
          </a:xfrm>
          <a:prstGeom prst="rect">
            <a:avLst/>
          </a:prstGeom>
          <a:solidFill>
            <a:srgbClr val="F5F7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34840" y="3483864"/>
            <a:ext cx="10058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486400" y="3483864"/>
            <a:ext cx="2560320" cy="301752"/>
          </a:xfrm>
          <a:prstGeom prst="rect">
            <a:avLst/>
          </a:prstGeom>
          <a:solidFill>
            <a:srgbClr val="F5F7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32120" y="3483864"/>
            <a:ext cx="246888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16,00,000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046720" y="3483864"/>
            <a:ext cx="2468880" cy="301752"/>
          </a:xfrm>
          <a:prstGeom prst="rect">
            <a:avLst/>
          </a:prstGeom>
          <a:solidFill>
            <a:srgbClr val="F5F7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092440" y="3483864"/>
            <a:ext cx="23774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74320" y="3785616"/>
            <a:ext cx="4114800" cy="301752"/>
          </a:xfrm>
          <a:prstGeom prst="rect">
            <a:avLst/>
          </a:prstGeom>
          <a:solidFill>
            <a:srgbClr val="C5CAE9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3785616"/>
            <a:ext cx="402336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Sub-total Agency Fees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389120" y="3785616"/>
            <a:ext cx="1097280" cy="301752"/>
          </a:xfrm>
          <a:prstGeom prst="rect">
            <a:avLst/>
          </a:prstGeom>
          <a:solidFill>
            <a:srgbClr val="C5CAE9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34840" y="3785616"/>
            <a:ext cx="10058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486400" y="3785616"/>
            <a:ext cx="2560320" cy="301752"/>
          </a:xfrm>
          <a:prstGeom prst="rect">
            <a:avLst/>
          </a:prstGeom>
          <a:solidFill>
            <a:srgbClr val="C5CAE9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532120" y="3785616"/>
            <a:ext cx="246888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2,06,00,000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046720" y="3785616"/>
            <a:ext cx="2468880" cy="301752"/>
          </a:xfrm>
          <a:prstGeom prst="rect">
            <a:avLst/>
          </a:prstGeom>
          <a:solidFill>
            <a:srgbClr val="C5CAE9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092440" y="3785616"/>
            <a:ext cx="23774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74320" y="4087368"/>
            <a:ext cx="4114800" cy="301752"/>
          </a:xfrm>
          <a:prstGeom prst="rect">
            <a:avLst/>
          </a:prstGeom>
          <a:solidFill>
            <a:srgbClr val="FFF9C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0040" y="4087368"/>
            <a:ext cx="402336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@ 18%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389120" y="4087368"/>
            <a:ext cx="1097280" cy="301752"/>
          </a:xfrm>
          <a:prstGeom prst="rect">
            <a:avLst/>
          </a:prstGeom>
          <a:solidFill>
            <a:srgbClr val="FFF9C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434840" y="4087368"/>
            <a:ext cx="10058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486400" y="4087368"/>
            <a:ext cx="2560320" cy="301752"/>
          </a:xfrm>
          <a:prstGeom prst="rect">
            <a:avLst/>
          </a:prstGeom>
          <a:solidFill>
            <a:srgbClr val="FFF9C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532120" y="4087368"/>
            <a:ext cx="246888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37,08,000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8046720" y="4087368"/>
            <a:ext cx="2468880" cy="301752"/>
          </a:xfrm>
          <a:prstGeom prst="rect">
            <a:avLst/>
          </a:prstGeom>
          <a:solidFill>
            <a:srgbClr val="FFF9C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092440" y="4087368"/>
            <a:ext cx="23774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74320" y="4389120"/>
            <a:ext cx="4114800" cy="301752"/>
          </a:xfrm>
          <a:prstGeom prst="rect">
            <a:avLst/>
          </a:prstGeom>
          <a:solidFill>
            <a:srgbClr val="0D1B4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20040" y="4389120"/>
            <a:ext cx="402336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TOTAL (incl. GST)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389120" y="4389120"/>
            <a:ext cx="1097280" cy="301752"/>
          </a:xfrm>
          <a:prstGeom prst="rect">
            <a:avLst/>
          </a:prstGeom>
          <a:solidFill>
            <a:srgbClr val="0D1B4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434840" y="4389120"/>
            <a:ext cx="10058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5486400" y="4389120"/>
            <a:ext cx="2560320" cy="301752"/>
          </a:xfrm>
          <a:prstGeom prst="rect">
            <a:avLst/>
          </a:prstGeom>
          <a:solidFill>
            <a:srgbClr val="0D1B4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532120" y="4389120"/>
            <a:ext cx="246888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2,43,08,000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8046720" y="4389120"/>
            <a:ext cx="2468880" cy="301752"/>
          </a:xfrm>
          <a:prstGeom prst="rect">
            <a:avLst/>
          </a:prstGeom>
          <a:solidFill>
            <a:srgbClr val="0D1B4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092440" y="4389120"/>
            <a:ext cx="2377440" cy="3017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~29,11,000*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274320" y="46634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*USD equivalent calculated at 1 USD = INR 83.5 (rate as of April 2026). Payment in INR only.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Schedule &amp; Terms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Milestone-Based Billing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0D1B4B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MediaPulse Digital Pvt. Ltd. | RFQ-MKT-KIDS-GL-2026-001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411480"/>
          </a:xfrm>
          <a:prstGeom prst="rect">
            <a:avLst/>
          </a:prstGeom>
          <a:solidFill>
            <a:srgbClr val="0D1B4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0" y="1097280"/>
            <a:ext cx="1371600" cy="411480"/>
          </a:xfrm>
          <a:prstGeom prst="rect">
            <a:avLst/>
          </a:prstGeom>
          <a:solidFill>
            <a:srgbClr val="0D1B4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097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60720" y="1097280"/>
            <a:ext cx="2286000" cy="411480"/>
          </a:xfrm>
          <a:prstGeom prst="rect">
            <a:avLst/>
          </a:prstGeom>
          <a:solidFill>
            <a:srgbClr val="0D1B4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097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Amount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46720" y="1097280"/>
            <a:ext cx="1554480" cy="411480"/>
          </a:xfrm>
          <a:prstGeom prst="rect">
            <a:avLst/>
          </a:prstGeom>
          <a:solidFill>
            <a:srgbClr val="0D1B4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097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508760"/>
            <a:ext cx="4114800" cy="41148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508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Mobilisation (LOI signing)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0" y="1508760"/>
            <a:ext cx="1371600" cy="41148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508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60720" y="1508760"/>
            <a:ext cx="2286000" cy="41148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508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51,50,000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46720" y="1508760"/>
            <a:ext cx="1554480" cy="41148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1508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days of LOI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1920240"/>
            <a:ext cx="41148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Lock (Territory + TVC script)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89120" y="1920240"/>
            <a:ext cx="13716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1920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60720" y="1920240"/>
            <a:ext cx="22860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41,20,000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46720" y="1920240"/>
            <a:ext cx="15544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92440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331720"/>
            <a:ext cx="4114800" cy="41148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331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TVC Delivery (Master)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0" y="2331720"/>
            <a:ext cx="1371600" cy="41148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2331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760720" y="2331720"/>
            <a:ext cx="2286000" cy="41148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644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41,20,000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46720" y="2331720"/>
            <a:ext cx="1554480" cy="41148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92440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delivery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2743200"/>
            <a:ext cx="41148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 Campaign Review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89120" y="2743200"/>
            <a:ext cx="13716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34840" y="2743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760720" y="2743200"/>
            <a:ext cx="22860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0644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41,20,000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046720" y="2743200"/>
            <a:ext cx="15544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92440" y="2743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3154680"/>
            <a:ext cx="4114800" cy="41148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154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Delivery &amp; Wrap Report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389120" y="3154680"/>
            <a:ext cx="1371600" cy="41148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34840" y="3154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760720" y="3154680"/>
            <a:ext cx="2286000" cy="41148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06440" y="3154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30,90,000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046720" y="3154680"/>
            <a:ext cx="1554480" cy="411480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92440" y="3154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end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3566160"/>
            <a:ext cx="4114800" cy="411480"/>
          </a:xfrm>
          <a:prstGeom prst="rect">
            <a:avLst/>
          </a:prstGeom>
          <a:solidFill>
            <a:srgbClr val="283593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5661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389120" y="3566160"/>
            <a:ext cx="1371600" cy="411480"/>
          </a:xfrm>
          <a:prstGeom prst="rect">
            <a:avLst/>
          </a:prstGeom>
          <a:solidFill>
            <a:srgbClr val="283593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34840" y="3566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760720" y="3566160"/>
            <a:ext cx="2286000" cy="411480"/>
          </a:xfrm>
          <a:prstGeom prst="rect">
            <a:avLst/>
          </a:prstGeom>
          <a:solidFill>
            <a:srgbClr val="283593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06440" y="3566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2,06,00,000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046720" y="3566160"/>
            <a:ext cx="1554480" cy="411480"/>
          </a:xfrm>
          <a:prstGeom prst="rect">
            <a:avLst/>
          </a:prstGeom>
          <a:solidFill>
            <a:srgbClr val="283593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92440" y="3566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(excl. GST)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274320" y="4206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Terms: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30 from invoice date. Late payment: 1.5%/month. Scope changes via formal change order.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Something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Amazing Together.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Sunita Krishnan | Director – New Business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s.krishnan@mediapulse.in | +91-9988776655 | mediapulse.in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MediaPulse - RFQ Response - Kids Health Drink</dc:title>
  <dc:subject>PptxGenJS Presentation</dc:subject>
  <dc:creator>MediaPulse Digital Agency</dc:creator>
  <cp:lastModifiedBy>MediaPulse Digital Agency</cp:lastModifiedBy>
  <cp:revision>1</cp:revision>
  <dcterms:created xsi:type="dcterms:W3CDTF">2026-04-10T19:41:04Z</dcterms:created>
  <dcterms:modified xsi:type="dcterms:W3CDTF">2026-04-10T19:41:04Z</dcterms:modified>
</cp:coreProperties>
</file>